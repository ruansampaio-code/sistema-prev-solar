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gYcHeDG8Ekb4zdQAxuStbifXlB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11" Type="http://schemas.openxmlformats.org/officeDocument/2006/relationships/image" Target="../media/image14.png"/><Relationship Id="rId10" Type="http://schemas.openxmlformats.org/officeDocument/2006/relationships/image" Target="../media/image24.png"/><Relationship Id="rId9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://drive.google.com/file/d/1hTdBB36oTGGUJgusB_0fOkEkPzhAJVDq/view" TargetMode="External"/><Relationship Id="rId5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95275" y="2175611"/>
            <a:ext cx="116016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PREV</a:t>
            </a:r>
            <a:r>
              <a:rPr b="1" i="0" lang="en-US" sz="570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SOLAR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71500" y="3245074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 de Previsibilidade de Geração de Energia Elétrica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720790" y="4288974"/>
            <a:ext cx="27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A5E9"/>
                </a:solidFill>
                <a:latin typeface="Inter Medium"/>
                <a:ea typeface="Inter Medium"/>
                <a:cs typeface="Inter Medium"/>
                <a:sym typeface="Inter Medium"/>
              </a:rPr>
              <a:t>EQUIPE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991050" y="4745075"/>
            <a:ext cx="42099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Davi Azevedo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Suellen Santos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Mateus Pereira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Patrinny Ataíde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José Ruan Rodrigues Sampaio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111490" y="4288986"/>
            <a:ext cx="27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A5E9"/>
                </a:solidFill>
                <a:latin typeface="Inter Medium"/>
                <a:ea typeface="Inter Medium"/>
                <a:cs typeface="Inter Medium"/>
                <a:sym typeface="Inter Medium"/>
              </a:rPr>
              <a:t>ORIENTADOR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76975" y="4609278"/>
            <a:ext cx="261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Marcos Sá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606965" y="478025"/>
            <a:ext cx="678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PROGRAMA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768518" y="1229425"/>
            <a:ext cx="6456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Residência </a:t>
            </a:r>
            <a:r>
              <a:rPr b="0" i="0" lang="en-US" sz="3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 TIC</a:t>
            </a:r>
            <a:b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UEMA BRISAS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870090" y="4288986"/>
            <a:ext cx="27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A5E9"/>
                </a:solidFill>
                <a:latin typeface="Inter Medium"/>
                <a:ea typeface="Inter Medium"/>
                <a:cs typeface="Inter Medium"/>
                <a:sym typeface="Inter Medium"/>
              </a:rPr>
              <a:t>PARCEIRO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935575" y="4546161"/>
            <a:ext cx="2619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"/>
          <p:cNvCxnSpPr/>
          <p:nvPr/>
        </p:nvCxnSpPr>
        <p:spPr>
          <a:xfrm>
            <a:off x="771375" y="3871700"/>
            <a:ext cx="10649400" cy="0"/>
          </a:xfrm>
          <a:prstGeom prst="straightConnector1">
            <a:avLst/>
          </a:prstGeom>
          <a:noFill/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equatorial_white.png"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1825" y="4845225"/>
            <a:ext cx="2343649" cy="695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8726" y="2645517"/>
            <a:ext cx="342900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8726" y="2645517"/>
            <a:ext cx="342900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571500" y="1474725"/>
            <a:ext cx="10938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6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ivergência entre a energia solar declarada pelo consumidor e a capacidade real instalada, o que gera riscos operacionais à rede elétrica e perdas financeiras para a distribuidora.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3223121" y="3921867"/>
            <a:ext cx="16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Sobrecarga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2644001" y="4388592"/>
            <a:ext cx="2838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Risco severo de instabilidade e sobrecarga no sistema elétrico de distribuição.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288152" y="3921867"/>
            <a:ext cx="117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Fraudes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454001" y="4388592"/>
            <a:ext cx="2838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Projetos de geração distribuída operando fora do padrão declarado pelo consumidor.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9" name="Google Shape;10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63201" y="3083667"/>
            <a:ext cx="4000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6526" y="308366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571500" y="444996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01 - O </a:t>
            </a:r>
            <a:r>
              <a:rPr b="1" i="0" lang="en-US" sz="34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71500" y="1130796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69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71500" y="1676400"/>
            <a:ext cx="52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Um sistema inteligente que processa imagens de satélite de painéis solares para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estimar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potencial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energia gerada pel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os painéis solares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047750" y="287655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Detecção Automatizada: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Painéis identificados via visão computacional avançada.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047750" y="3724275"/>
            <a:ext cx="4810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Área </a:t>
            </a: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Geração: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Cálculo em m² e estimativa de geração em kWh/mês.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047750" y="457200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Geolocalização: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Mapeamento exato de cada painel detectado na imagem.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047750" y="541972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Eficiência: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Sem necessidade de visita técnica ou contagem manual em planilhas.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4" name="Google Shape;12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908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385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862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43401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571500" y="571500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02 - A </a:t>
            </a:r>
            <a:r>
              <a:rPr b="1" i="0" lang="en-US" sz="34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6">
            <a:alphaModFix/>
          </a:blip>
          <a:srcRect b="5473" l="0" r="0" t="0"/>
          <a:stretch/>
        </p:blipFill>
        <p:spPr>
          <a:xfrm>
            <a:off x="6334125" y="1905000"/>
            <a:ext cx="5571549" cy="390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950" y="1431150"/>
            <a:ext cx="5183000" cy="290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7500" y="1499625"/>
            <a:ext cx="5183000" cy="49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773260" y="2213938"/>
            <a:ext cx="263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780550" y="2946375"/>
            <a:ext cx="4615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Dataset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Roboflow </a:t>
            </a:r>
            <a:endParaRPr b="0" i="0" sz="15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Treino: PyTorch (UNET + RESNET 34)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+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Ultralytics YOLO </a:t>
            </a:r>
            <a:endParaRPr b="0" i="0" sz="15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6767443" y="4191975"/>
            <a:ext cx="175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12013878" y="4191987"/>
            <a:ext cx="274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Fotend &amp; Deploy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2" name="Google Shape;1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89850" y="1656850"/>
            <a:ext cx="591312" cy="4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16615" y="3614537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77840" y="1656846"/>
            <a:ext cx="666750" cy="53527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571500" y="503025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-US" sz="34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- Tecnologia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6530712" y="4446356"/>
            <a:ext cx="206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8112066" y="2365688"/>
            <a:ext cx="19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7117469" y="2759213"/>
            <a:ext cx="3800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7E0"/>
                </a:solidFill>
                <a:highlight>
                  <a:srgbClr val="212830"/>
                </a:highlight>
                <a:latin typeface="Inter"/>
                <a:ea typeface="Inter"/>
                <a:cs typeface="Inter"/>
                <a:sym typeface="Inter"/>
              </a:rPr>
              <a:t>Next.js 14 </a:t>
            </a:r>
            <a:endParaRPr b="0" i="0" sz="1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9129043" y="4147913"/>
            <a:ext cx="226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Banco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9272299" y="4446343"/>
            <a:ext cx="206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PostgreSQL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2" name="Google Shape;15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25165" y="3464750"/>
            <a:ext cx="666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 title="919853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86910" y="50490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7363480" y="5881875"/>
            <a:ext cx="330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Conteinerização da aplicação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725" y="4490150"/>
            <a:ext cx="5139450" cy="20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1670310" y="5321725"/>
            <a:ext cx="263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Geolocalização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2089400" y="5818600"/>
            <a:ext cx="179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Rasterio + Geopy</a:t>
            </a:r>
            <a:endParaRPr b="0" i="0" sz="15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58" name="Google Shape;15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8300" y="4732476"/>
            <a:ext cx="4094406" cy="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8817"/>
            <a:ext cx="2541240" cy="1727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6854" y="4628428"/>
            <a:ext cx="2541240" cy="1727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2749" y="1976900"/>
            <a:ext cx="2541240" cy="1984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88682" y="4628441"/>
            <a:ext cx="2541240" cy="17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 txBox="1"/>
          <p:nvPr/>
        </p:nvSpPr>
        <p:spPr>
          <a:xfrm>
            <a:off x="571500" y="1400175"/>
            <a:ext cx="10053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Como o fiscal utiliza o sistema, do upload da imagem até o relatório final para auditoria.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71500" y="4289748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627418" y="2305513"/>
            <a:ext cx="224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1. Upload &amp;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771573" y="2730613"/>
            <a:ext cx="21411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Operador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arrasta a imagem e escolhe o modelo ideal de Machine Learning.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3463350" y="4828453"/>
            <a:ext cx="224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2. Processamento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3516879" y="5180878"/>
            <a:ext cx="21411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modelo processa a imagem em segundo plano de forma assíncrona, extraindo os dados.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6299245" y="2176925"/>
            <a:ext cx="224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3. Análise Interativa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352774" y="2786525"/>
            <a:ext cx="21411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plataforma exibe um zoom interativo com as marcações, área, geração e endereço de cada painel.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9135178" y="4828466"/>
            <a:ext cx="224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4. Exportação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9188707" y="5180891"/>
            <a:ext cx="21411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Relatórios detalhados exportados em Excel com resumo geral e dados granulares por painel.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1727820" y="416861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563740" y="416861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7399659" y="416861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10235579" y="416861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571500" y="571500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-US" sz="34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- Como Funciona a </a:t>
            </a:r>
            <a:r>
              <a:rPr b="1" i="0" lang="en-US" sz="34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Jornada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429125" y="144350"/>
            <a:ext cx="7167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-US" sz="34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- Demonstração </a:t>
            </a:r>
            <a:r>
              <a:rPr b="1" i="0" lang="en-US" sz="34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7" title="video-demostracao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37196"/>
            <a:ext cx="12192003" cy="5785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4962"/>
            <a:ext cx="5143500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1604962"/>
            <a:ext cx="51435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 txBox="1"/>
          <p:nvPr/>
        </p:nvSpPr>
        <p:spPr>
          <a:xfrm>
            <a:off x="852963" y="1995487"/>
            <a:ext cx="45805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Processo 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6758463" y="1995487"/>
            <a:ext cx="45805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Com PrevSolar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1438275" y="2557462"/>
            <a:ext cx="388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Verificação manual dependente de técnico em campo.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1438275" y="3405187"/>
            <a:ext cx="388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Dias de espera para obtenção de um laudo final.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1438275" y="4252912"/>
            <a:ext cx="388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Contagem de painéis imprecisa e propensa a erros.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1438275" y="5100637"/>
            <a:ext cx="388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Dificuldade na localização exata de irregularidades isoladas.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7343775" y="2557462"/>
            <a:ext cx="388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Análise remota, rápida e centralizada via imagem de satélite.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7343775" y="3405187"/>
            <a:ext cx="388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Resultados precisos disponíveis em questão de minutos.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7343775" y="4252912"/>
            <a:ext cx="388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Grau de confiança gerado por IA para cada painel detectado.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7343775" y="5100637"/>
            <a:ext cx="388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ROI Direto: Redução drástica do custo de fiscalização operacional.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8" name="Google Shape;20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71750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419475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267200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5114925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7525" y="257175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7525" y="341947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7525" y="42672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7525" y="5114925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 txBox="1"/>
          <p:nvPr/>
        </p:nvSpPr>
        <p:spPr>
          <a:xfrm>
            <a:off x="571500" y="519112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lang="en-US" sz="34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06 - </a:t>
            </a: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Impacto e </a:t>
            </a:r>
            <a:r>
              <a:rPr b="1" i="0" lang="en-US" sz="34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71500" y="1204912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5286375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57387"/>
            <a:ext cx="5286375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09837"/>
            <a:ext cx="45053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5"/>
          <p:cNvSpPr txBox="1"/>
          <p:nvPr/>
        </p:nvSpPr>
        <p:spPr>
          <a:xfrm>
            <a:off x="849391" y="315753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Modelos de Machine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962025" y="3767137"/>
            <a:ext cx="4505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Integramos dois poderosos modelos (UNet v2 e YOLO v11).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usuário possui a flexibilidade de escolher o algoritmo mais preciso de acordo com as características da imagem de satélite inserida.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8" name="Google Shape;22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347912"/>
            <a:ext cx="45053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"/>
          <p:cNvSpPr txBox="1"/>
          <p:nvPr/>
        </p:nvSpPr>
        <p:spPr>
          <a:xfrm>
            <a:off x="6612016" y="2995612"/>
            <a:ext cx="4730591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Auditoria Granular e Georreferenciada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6724650" y="3929062"/>
            <a:ext cx="4505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PrevSolar mapeia a coordenada exata de cada painel detectado, permitindo zoom interativo e exportação de dados estruturados e auditáveis.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571500" y="571500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-US" sz="34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- Nossos </a:t>
            </a:r>
            <a:r>
              <a:rPr b="1" i="0" lang="en-US" sz="34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Diferenciais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 txBox="1"/>
          <p:nvPr/>
        </p:nvSpPr>
        <p:spPr>
          <a:xfrm>
            <a:off x="571500" y="1400175"/>
            <a:ext cx="9377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que é necessário para integrar o PrevSolar ao fluxo produtivo da sua equipe?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644275" y="2936475"/>
            <a:ext cx="3276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Infraestrutura Mínima: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Servidor Linux com suporte a Docker (uso de GPU NVIDIA é recomendado para alta performance), além de contêineres para PostgreSQL e Redis.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4572000" y="2936475"/>
            <a:ext cx="3276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Dados Necessários: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Acesso a imagens de satélite com boa resolução (PNG, JPG ou GeoTIFF) e base de cadastro para gestão de operadores e administradores.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8692375" y="2936475"/>
            <a:ext cx="3170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Entregáveis Finais: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Código-fonte completo em repositório Git, documentação técnica, manual do usuário e suporte especializado na implantação inicial.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2" name="Google Shape;2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3350" y="223924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6463" y="223925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81025" y="2291517"/>
            <a:ext cx="21291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 txBox="1"/>
          <p:nvPr/>
        </p:nvSpPr>
        <p:spPr>
          <a:xfrm>
            <a:off x="571500" y="571500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lang="en-US" sz="34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08 -</a:t>
            </a:r>
            <a:r>
              <a:rPr b="1" i="0" lang="en-US" sz="34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Passos para </a:t>
            </a:r>
            <a:r>
              <a:rPr b="1" i="0" lang="en-US" sz="34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Implantação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0488" y="2409263"/>
            <a:ext cx="4723975" cy="39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 txBox="1"/>
          <p:nvPr/>
        </p:nvSpPr>
        <p:spPr>
          <a:xfrm>
            <a:off x="295200" y="941827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Vamos colocar em </a:t>
            </a:r>
            <a:r>
              <a:rPr b="1" i="0" lang="en-US" sz="52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Produção?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571500" y="186265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equipe está disponível para apoiar a implantação na Equatorial.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4040625" y="4829863"/>
            <a:ext cx="301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Patrinny Ataíde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patrinnyataiderocha@gmail.com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4040613" y="3351267"/>
            <a:ext cx="42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José Ruan Rodrigues Sampaio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jruansampaiodev@gmail.com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4040625" y="4136117"/>
            <a:ext cx="42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Mateus Andrade Pereira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Mateusandrade@acad.ifma.edu.br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4040625" y="2684826"/>
            <a:ext cx="301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Davi Azevedo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Daviazevedog@gmail.com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4040625" y="5523613"/>
            <a:ext cx="301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Suellen Santos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suellen_pontes@hotmail.com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